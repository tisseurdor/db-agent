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54864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7A2B8"/>
                </a:solidFill>
                <a:latin typeface="PingFang SC"/>
                <a:ea typeface="PingFang SC"/>
              </a:rPr>
              <a:t>面试讲解 · Career +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工作经历与项目讲解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F2F5F8"/>
                </a:solidFill>
                <a:latin typeface="PingFang SC"/>
                <a:ea typeface="PingFang SC"/>
              </a:rPr>
              <a:t>伍彩琳  ·  重庆大学大数据与软件硕士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2F5F8"/>
                </a:solidFill>
                <a:latin typeface="PingFang SC"/>
                <a:ea typeface="PingFang SC"/>
              </a:rPr>
              <a:t>花旗 Olympus Core Data Analyst（3 年）→ Agent 应用开发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</a:rPr>
              <a:t>Part 1  花旗工作经历（2 页）：公司介绍 + 四段日常经历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</a:rPr>
              <a:t>Part 2  项目时序：单Agent→多Agent→安全→可靠性→工程化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工作经历两页；项目按五阶段时序：问题 → 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94960" cy="12801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2E86DE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4592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一分钟自我介绍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03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数据工程底子 + Agent 落地能力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12801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2763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2E86DE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工作公司介绍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1031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Olympus Core · 岗位边界 · 交付怎么验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80360"/>
            <a:ext cx="5394960" cy="12801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363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2E86DE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5468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日常四个工作经历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6118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交付保障 / Metadata / Entitlement / Spark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880360"/>
            <a:ext cx="5394960" cy="12801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1363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2E86DE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15468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2A43"/>
                </a:solidFill>
                <a:latin typeface="PingFang SC"/>
                <a:ea typeface="PingFang SC"/>
              </a:rPr>
              <a:t>项目时序路线图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6118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五阶段：问题 → 改进 → 叠成复杂系统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一分钟自我介绍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面试开场定稿（30~40 秒）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72800" cy="2468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PingFang SC"/>
                <a:ea typeface="PingFang SC"/>
              </a:rPr>
              <a:t>我叫伍彩琳，重庆大学大数据与软件硕士。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PingFang SC"/>
                <a:ea typeface="PingFang SC"/>
              </a:rPr>
              <a:t>之前在花旗 Olympus Core 做了三年 Data Analyst，负责全数据平台交付保障——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PingFang SC"/>
                <a:ea typeface="PingFang SC"/>
              </a:rPr>
              <a:t>Kafka、Spark、Hive 这一整套数据链路我都实际跑过，三年交付质量事故为零。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PingFang SC"/>
                <a:ea typeface="PingFang SC"/>
              </a:rPr>
              <a:t>今年系统做 Agent 应用开发：从 NL2SQL 到数据治理多 Agent 系统——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PingFang SC"/>
                <a:ea typeface="PingFang SC"/>
              </a:rPr>
              <a:t>LangGraph 10 节点、Router、HITL、RBAC、LLM-as-Judge，可靠性工程都在代码里做过。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3360"/>
            <a:ext cx="5394960" cy="2103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169664"/>
            <a:ext cx="49926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匹配点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53712"/>
            <a:ext cx="4992624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数据工程硬底子：准时、完整、可追溯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大模型落地最头疼的「可控、可评测」解决过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不是只会调 API，而是能把 Agent 做成工程系统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023360"/>
            <a:ext cx="5349240" cy="21031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4169664"/>
            <a:ext cx="49469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6DE"/>
                </a:solidFill>
                <a:latin typeface="PingFang SC"/>
                <a:ea typeface="PingFang SC"/>
              </a:rPr>
              <a:t>关键数字（开场可点）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4553712"/>
            <a:ext cx="4946904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花旗：3 年 / 0 事故 / 4 条业务线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Metadata：2h → 10min，提效 92%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db-agent：6 Agent / 10 节点 / 423 测试 / Eval 33/35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工作经历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工作公司 · Olympus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花旗 Markets 战略级大数据底座 · 批发数据再分发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5532120" cy="3063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26464"/>
            <a:ext cx="51297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平台是什么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10512"/>
            <a:ext cx="5129784" cy="2404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上游：多系统交易 / 持仓 / 事件 → 清洗校验路由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形成 Markets 权威数据副本（single source of truth）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下游：风控 / 合规 / 总账 / 流动性 / 监管报送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业务线：DGB / BKB / Opportunity / DDA-checking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硬指标：准时性 + 完整性（漏数/延迟/口径漂移会卡下游）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30632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2646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6DE"/>
                </a:solidFill>
                <a:latin typeface="PingFang SC"/>
                <a:ea typeface="PingFang SC"/>
              </a:rPr>
              <a:t>我的岗位与技术边界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5084064" cy="2404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角色：Data Analyst · 全数据平台交付保障 · 3 年 0 事故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通道：Kafka 实时流 + SFTP 批量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链路：load→validation→dispatcher→monitor→recon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调度层 Autosys · 执行层 Spark + HDFS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口头禅：调度成功 ≠ 交付成功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⛔ Cancel &amp; Correct 未覆盖，不硬接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26280"/>
            <a:ext cx="11201400" cy="15544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672584"/>
            <a:ext cx="10799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7A2B8"/>
                </a:solidFill>
                <a:latin typeface="PingFang SC"/>
                <a:ea typeface="PingFang SC"/>
              </a:rPr>
              <a:t>日常交付怎么验（0 事故底气）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056632"/>
            <a:ext cx="10799064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双通道对账不同：SFTP 对「内容对不对」（行数+checksum+大小）；Kafka 对「有没有漏」（offset+序列号，唯一键幂等）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三层 recon：①行数完整性 ②checksum 内容一致 ③control total 金额准确 → 对不上先重拉，再 break report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SOX：每次 load 按 batch_id / 源文件 / offset 可追溯；Monitor 盯 SLA，巡检覆盖四条业务线准时与完整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工作经历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日常四个工作经历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内容与背稿一致，一页收束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2788920" cy="48463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2788920" cy="50292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01 交付保障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965960"/>
            <a:ext cx="2560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Kafka + SFTP 双通道质量保障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五环节全链路盯梢 + Autosys 调度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三层对账：行数 / checksum / 金额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漏数重拉；错数定位 batch 回退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四条业务线稳定交付 · 0 事故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788920" cy="48463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280160"/>
            <a:ext cx="2788920" cy="502920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02 Metadata 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965960"/>
            <a:ext cx="2560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Spring Boot + React 全栈工具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7 字段描述一条 feed（勿报第 8 个）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feed-name / 源文件 / 源·目标路径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start·end / SLA → 生成 7 表 ~210 字段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2h→10min 提效 92%；人工 review 后落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2788920" cy="48463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2788920" cy="502920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03 Entitlement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965960"/>
            <a:ext cx="2560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登录认证 + 三层细粒度授权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个人 / 组织 / 用户组叠加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共享平台四条业务线访问可控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通过内部合规审计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对比 Agent：表级→行级 rewrite_sql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280160"/>
            <a:ext cx="2788920" cy="484632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89720" y="1280160"/>
            <a:ext cx="2788920" cy="5029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04 Spark 倾斜治理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9448" y="1965960"/>
            <a:ext cx="25603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Opportunity 作业 Stage 长尾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根因：timestamp join key 扎堆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大表+小表广播 → Broadcast Hash Join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去掉按热 key 的 shuffle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222B35"/>
                </a:solidFill>
                <a:latin typeface="PingFang SC"/>
                <a:ea typeface="PingFang SC"/>
              </a:rPr>
              <a:t>• 作业稳住；小表过大/双大表才另法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17A2B8"/>
                </a:solidFill>
                <a:latin typeface="PingFang SC"/>
                <a:ea typeface="PingFang SC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2F5F8"/>
                </a:solidFill>
                <a:latin typeface="PingFang SC"/>
                <a:ea typeface="PingFang SC"/>
              </a:rPr>
              <a:t>时序路线：遇到什么问题 → 做了什么改进 → 长成今天的系统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起点：业务痛点与目标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不是调一个 LLM，而是把「说人话 → 查数 → 分析」做成工程系统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42976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72184"/>
            <a:ext cx="51297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PingFang SC"/>
                <a:ea typeface="PingFang SC"/>
              </a:rPr>
              <a:t>一开始遇到的问题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2"/>
            <a:ext cx="5129784" cy="363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业务要背三套语法：SQL / Hive / HBase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改字段要等数据组排期，链路长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市面 Text-to-SQL 多只生成、不执行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不管权限、不会改错、不可评测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银行数据治理：feed 对账 / 血缘 / load 监控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核心矛盾：job 成功 ≠ 数据真正落地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86400" cy="42976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目标怎么定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5084064" cy="3639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自然语言自助取数 + 分析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覆盖多引擎，职责可定位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权限 / 可靠性 / 评测一起做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定位：Agent = 模型 + Harness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本项目做 Harness，不训练模型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演进原则：每层都被真实问题逼出来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演进总路线图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五段时序：问题逼出机制，机制叠成复杂系统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777240" cy="749808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280160"/>
            <a:ext cx="20116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481328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单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280160"/>
            <a:ext cx="38404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1371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PingFang SC"/>
                <a:ea typeface="PingFang SC"/>
              </a:rPr>
              <a:t>遇到的问题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6459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模型不能稳定干活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280160"/>
            <a:ext cx="416052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3716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改进动作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64592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手写 ReAct · 真执行 · Caching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194560"/>
            <a:ext cx="777240" cy="749808"/>
          </a:xfrm>
          <a:prstGeom prst="round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194560"/>
            <a:ext cx="20116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395728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多 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2194560"/>
            <a:ext cx="38404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22860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PingFang SC"/>
                <a:ea typeface="PingFang SC"/>
              </a:rPr>
              <a:t>遇到的问题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5603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一个大脑扛不住多引擎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2194560"/>
            <a:ext cx="416052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2860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改进动作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56032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LangGraph · Router · 重规划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108960"/>
            <a:ext cx="777240" cy="749808"/>
          </a:xfrm>
          <a:prstGeom prst="round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3108960"/>
            <a:ext cx="20116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310128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权限安全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0" y="3108960"/>
            <a:ext cx="38404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2004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PingFang SC"/>
                <a:ea typeface="PingFang SC"/>
              </a:rPr>
              <a:t>遇到的问题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4747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Prompt 拦不住越权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108960"/>
            <a:ext cx="416052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32004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改进动作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47472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RBAC · 护栏 · HITL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023360"/>
            <a:ext cx="777240" cy="74980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17320" y="4023360"/>
            <a:ext cx="20116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0" y="4224528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可靠性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566160" y="4023360"/>
            <a:ext cx="38404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03320" y="41148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PingFang SC"/>
                <a:ea typeface="PingFang SC"/>
              </a:rPr>
              <a:t>遇到的问题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3891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会挂、会重、会烧钱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4023360"/>
            <a:ext cx="416052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41148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改进动作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38912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重试→自愈→熔断→幂等→告警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937760"/>
            <a:ext cx="777240" cy="74980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2200" b="1">
                <a:solidFill>
                  <a:srgbClr val="FFFFFF"/>
                </a:solidFill>
                <a:latin typeface="PingFang SC"/>
                <a:ea typeface="PingFang SC"/>
              </a:rPr>
              <a:t>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17320" y="4937760"/>
            <a:ext cx="20116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54480" y="5138928"/>
            <a:ext cx="1783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工程化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4937760"/>
            <a:ext cx="384048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320" y="5029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PingFang SC"/>
                <a:ea typeface="PingFang SC"/>
              </a:rPr>
              <a:t>遇到的问题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530352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demo 上不了线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3800" y="4937760"/>
            <a:ext cx="4160520" cy="74980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80960" y="502920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2E8B57"/>
                </a:solidFill>
                <a:latin typeface="PingFang SC"/>
                <a:ea typeface="PingFang SC"/>
              </a:rPr>
              <a:t>改进动作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80960" y="5303520"/>
            <a:ext cx="3886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测试 · Eval · CLI · 外置存储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五阶段演进图解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从调 API → 能上线的 CLI 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9</a:t>
            </a:r>
          </a:p>
        </p:txBody>
      </p:sp>
      <p:pic>
        <p:nvPicPr>
          <p:cNvPr id="7" name="Picture 6" descr="five_stage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25880"/>
            <a:ext cx="9509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阶段一 · 单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先把「模型能干活」跑通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72184"/>
            <a:ext cx="51297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PingFang SC"/>
                <a:ea typeface="PingFang SC"/>
              </a:rPr>
              <a:t>当时的问题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2"/>
            <a:ext cx="512978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直接调 LLM：会编造执行结果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AgentExecutor 是黑盒，温度/轮次/截断难控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SQL 一错就整段 crash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整库 schema 塞提示词又贵又难约束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成本不可控，高频问法每次从零生成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8640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改进 → 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508406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手写 ReAct ~250 行，不用 AgentExecutor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工具真执行：模型只决策，结果回喂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结构化错误 {error, hint, retryable} 自纠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Prompt Caching：前缀一致，成本降 ~99.5%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模板优先：高频问法命中零 LLM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产出：能稳定执行工具的 CLI 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阶段二 · 多 Agent 编排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从「一个大脑」到「一组分工」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72184"/>
            <a:ext cx="51297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PingFang SC"/>
                <a:ea typeface="PingFang SC"/>
              </a:rPr>
              <a:t>当时的问题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2"/>
            <a:ext cx="512978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业务不止 SQL：还有 Hive / HBase / 制度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一个 Agent 全包：上下文互相污染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权限与责任说不清是谁的错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每次路由都调 LLM，贵且慢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子任务失败没有可控重来路径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8640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改进 → 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508406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选 LangGraph：图节点 + Checkpointer + interrupt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6 Agent / 10 节点，职责严格隔离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Router 四层：硬规则→继承→LRU→LLM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~80% 高频请求零 LLM 直接路由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失败重规划 ≤1，跳过脏缓存防死循环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产出：多引擎协同的编排系统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阶段三 · 权限与安全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Prompt 拦不住越权，必须硬拦截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72184"/>
            <a:ext cx="51297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PingFang SC"/>
                <a:ea typeface="PingFang SC"/>
              </a:rPr>
              <a:t>当时的问题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2"/>
            <a:ext cx="512978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模型可被诱导越权查敏感列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只靠 system prompt：软约束失效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写操作 / 破坏性 HBase 命令风险高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同一张表不同部门不该看全量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注入、危险 SQL、输出泄密无人拦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8640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改进 → 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508406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5 角色 RBAC：工具/表/行级三层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rewrite_sql 自动注入 WHERE dept_id=X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三层护栏：输入 / SQL / 输出（零 token）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HITL：敏感列与 HBase 写走 interrupt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工具白名单：Analysis 根本挂不上查库工具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产出：权限下沉工具层的安全闭环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安全链路图解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护栏 + RBAC + HITL（阶段三落地形态）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13</a:t>
            </a:r>
          </a:p>
        </p:txBody>
      </p:sp>
      <p:pic>
        <p:nvPicPr>
          <p:cNvPr id="7" name="Picture 6" descr="security-chain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927" y="1325880"/>
            <a:ext cx="6339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阶段四 · 可靠性闭环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从「能跑」到「挂了也不崩、不烧钱」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72184"/>
            <a:ext cx="51297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PingFang SC"/>
                <a:ea typeface="PingFang SC"/>
              </a:rPr>
              <a:t>当时的问题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2"/>
            <a:ext cx="512978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LLM 429/5xx/超时偶发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SQL 写错表名/字段就卡死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Agent 超轮数没有退路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连续失败还在重试 = 烧 token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重试/重规划让写工具执行两次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会话中断、前端断流无法续跑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8640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改进 → 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508406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API：指数退避 + 抖动重试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执行：结构化 hint 重写 ≤2；Replan ≤1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熔断：达阈值 open，冷却半开试探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幂等：同参数 TTL 窗口不重复写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告警：熔断/超时/评测退化通知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Checkpointer 续跑 + SSE 断流治理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产出：重试→自愈→熔断→幂等→告警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三层自愈图解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可靠性闭环（阶段四）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15</a:t>
            </a:r>
          </a:p>
        </p:txBody>
      </p:sp>
      <p:pic>
        <p:nvPicPr>
          <p:cNvPr id="7" name="Picture 6" descr="self-healing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927" y="1325880"/>
            <a:ext cx="6339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阶段五 · 工程化落地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从 demo 到能上线的 CLI 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72184"/>
            <a:ext cx="512978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C0392B"/>
                </a:solidFill>
                <a:latin typeface="PingFang SC"/>
                <a:ea typeface="PingFang SC"/>
              </a:rPr>
              <a:t>当时的问题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56232"/>
            <a:ext cx="512978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本地绿、CI 红：LLM 测试不可复现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状态堆在进程里，挂了就丢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向量库绑死单一后端，难切换生产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改代码可能静默把系统改坏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缺安装即用的产品入口与配置校验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48640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7218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PingFang SC"/>
                <a:ea typeface="PingFang SC"/>
              </a:rPr>
              <a:t>改进 → 产出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56232"/>
            <a:ext cx="508406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LLM/Embedding 全 fake → 423 测试离线 ~10s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会话/checkpoint 外置 Redis，挂了回落 SQLite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Chroma / Milvus 一行切换（VECTOR_DB）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Eval 47 条 + Judge 独立模型；降超 5pp 告警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CLI `db-agent` + Docker + 启动校验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产出：能上线、可回归、可运维的产品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今天的系统长什么样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五段改进叠出来的 Harness 六维（下一页看大字号全景图）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155680" cy="9144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PingFang SC"/>
                <a:ea typeface="PingFang SC"/>
              </a:rPr>
              <a:t>入口：CLI / Streamlit / Web(FastAPI+SSE+React)  →  共用同一套 Harness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23160"/>
            <a:ext cx="361188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编排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10 节点 / 6 Agent /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23160"/>
            <a:ext cx="361188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089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白名单隔离 · 真执行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23160"/>
            <a:ext cx="361188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651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上下文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108960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Schema Linking / few-shot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977639"/>
            <a:ext cx="361188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0623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6343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工作 / 短期 / 长期向量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977639"/>
            <a:ext cx="361188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0623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66343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RBAC / 护栏 / HITL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3977639"/>
            <a:ext cx="3611880" cy="132588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420623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2A43"/>
                </a:solidFill>
                <a:latin typeface="PingFang SC"/>
                <a:ea typeface="PingFang SC"/>
              </a:rPr>
              <a:t>观测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663439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Trace / Opik / Eval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工程机制全景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入口 → 编排 → Harness 六维（大字号重绘）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18</a:t>
            </a:r>
          </a:p>
        </p:txBody>
      </p:sp>
      <p:pic>
        <p:nvPicPr>
          <p:cNvPr id="7" name="Picture 6" descr="mechanism-overvie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973" y="1325880"/>
            <a:ext cx="829574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一条 Query 的现在时序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把演进成果串成一次请求生命周期（下一页看大字号全链路）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54480"/>
            <a:ext cx="1234440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三入口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554480"/>
            <a:ext cx="1234440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护栏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554480"/>
            <a:ext cx="1234440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Router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1234440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DQ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554480"/>
            <a:ext cx="1234440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阶段一/二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554480"/>
            <a:ext cx="1234440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置信度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554480"/>
            <a:ext cx="1234440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554480"/>
            <a:ext cx="1234440" cy="105156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自愈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27080" y="1554480"/>
            <a:ext cx="1234440" cy="1051560"/>
          </a:xfrm>
          <a:prstGeom prst="round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2743200"/>
            <a:ext cx="1234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PingFang SC"/>
                <a:ea typeface="PingFang SC"/>
              </a:rPr>
              <a:t>阶段五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383280"/>
            <a:ext cx="11155680" cy="265176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529584"/>
            <a:ext cx="1075334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时序怎么讲（30 秒）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913632"/>
            <a:ext cx="10753344" cy="1993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先护栏（阶段三）再路由（阶段二），查数走 SQL，对比走 Analysis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低置信度 / 敏感操作 interrupt 等人；失败走自愈与熔断（阶段四）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成功 SQL 可回流样例；全程 Trace + Eval 防退化（阶段五）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B35"/>
                </a:solidFill>
                <a:latin typeface="PingFang SC"/>
                <a:ea typeface="PingFang SC"/>
              </a:rPr>
              <a:t>• 一句话：复杂不是堆功能，是五次「出事 → 补一层」叠出来的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全链路生命周期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入口→护栏→Router→Agent→闸门→分析→Done（大字号重绘）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20</a:t>
            </a:r>
          </a:p>
        </p:txBody>
      </p:sp>
      <p:pic>
        <p:nvPicPr>
          <p:cNvPr id="7" name="Picture 6" descr="query-flow-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973" y="1325880"/>
            <a:ext cx="8295748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17A2B8"/>
                </a:solidFill>
                <a:latin typeface="PingFang SC"/>
                <a:ea typeface="PingFang SC"/>
              </a:rPr>
              <a:t>项目经历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演进结果 · 数字收束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0241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每阶段都留下可验证的产出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专业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37160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150876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1031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图节点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0876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423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1031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离线测试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37160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0876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33/35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1031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Eval 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37160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150876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99.5%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21031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缓存降本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04120" y="1371600"/>
            <a:ext cx="1783080" cy="1234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1508760"/>
            <a:ext cx="1783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200" b="1">
                <a:solidFill>
                  <a:srgbClr val="2E86DE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21031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演进阶段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880360"/>
            <a:ext cx="219456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0175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阶段一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2880360"/>
            <a:ext cx="8823960" cy="56692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0175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能稳定执行工具的 CLI 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520440"/>
            <a:ext cx="219456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阶段二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3520440"/>
            <a:ext cx="8823960" cy="56692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65760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多引擎编排 + Router 短路 + 重规划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160520"/>
            <a:ext cx="219456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2976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阶段三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4160520"/>
            <a:ext cx="8823960" cy="56692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429768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权限下沉工具层（RBAC + HITL + 护栏）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800600"/>
            <a:ext cx="219456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9377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阶段四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4800600"/>
            <a:ext cx="8823960" cy="56692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17520" y="493776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可靠性闭环（挂了也不崩、不烧钱）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440680"/>
            <a:ext cx="2194560" cy="566928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5778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PingFang SC"/>
                <a:ea typeface="PingFang SC"/>
              </a:rPr>
              <a:t>阶段五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34640" y="5440680"/>
            <a:ext cx="8823960" cy="566928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0" y="557784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PingFang SC"/>
                <a:ea typeface="PingFang SC"/>
              </a:rPr>
              <a:t>可回归、可运维、能上线的产品形态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800" b="1">
                <a:solidFill>
                  <a:srgbClr val="0F2A43"/>
                </a:solidFill>
                <a:latin typeface="PingFang SC"/>
                <a:ea typeface="PingFang SC"/>
              </a:rPr>
              <a:t>讲解路线建议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896112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A6B7B"/>
                </a:solidFill>
                <a:latin typeface="PingFang SC"/>
                <a:ea typeface="PingFang SC"/>
              </a:rPr>
              <a:t>工作两页带过；项目按时序讲「出事→补一层」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A6B7B"/>
                </a:solidFill>
                <a:latin typeface="PingFang SC"/>
                <a:ea typeface="PingFang SC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48640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17904"/>
            <a:ext cx="508406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0F2A43"/>
                </a:solidFill>
                <a:latin typeface="PingFang SC"/>
                <a:ea typeface="PingFang SC"/>
              </a:rPr>
              <a:t>推荐口述顺序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01952"/>
            <a:ext cx="508406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30 秒自我介绍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工作：公司页 + 四经历页（各点一句）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项目起点：三痛 + job成功≠数据落地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总路线图：五阶段问题→改进扫一眼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深挖 1~2 段：安全或可靠性最加分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收尾：今天六维 + 数字 + 不是堆功能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94960" cy="4663440"/>
          </a:xfrm>
          <a:prstGeom prst="round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517904"/>
            <a:ext cx="49926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2E86DE"/>
                </a:solidFill>
                <a:latin typeface="PingFang SC"/>
                <a:ea typeface="PingFang SC"/>
              </a:rPr>
              <a:t>时序追问钩子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901952"/>
            <a:ext cx="499262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为什么先手写 ReAct 不用 AgentExecutor？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一个 Agent 不够时为什么选 LangGraph？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Prompt 为什么拦不住越权？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熔断和幂等分别防什么问题？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工程化阶段解决的是哪类「假绿」？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222B35"/>
                </a:solidFill>
                <a:latin typeface="PingFang SC"/>
                <a:ea typeface="PingFang SC"/>
              </a:rPr>
              <a:t>• 复杂系统是怎么一步步长出来的？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PingFang SC"/>
                <a:ea typeface="PingFang SC"/>
              </a:rPr>
              <a:t>谢谢 ·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7A2B8"/>
                </a:solidFill>
                <a:latin typeface="PingFang SC"/>
                <a:ea typeface="PingFang SC"/>
              </a:rPr>
              <a:t>数据工程底子 × Agent 可靠性工程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2F5F8"/>
                </a:solidFill>
                <a:latin typeface="PingFang SC"/>
                <a:ea typeface="PingFang SC"/>
              </a:rPr>
              <a:t>让数据准确、安全、及时地到达需要它的人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