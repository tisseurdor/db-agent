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4343400"/>
            <a:ext cx="12191695" cy="54864"/>
          </a:xfrm>
          <a:prstGeom prst="roundRect">
            <a:avLst/>
          </a:prstGeom>
          <a:solidFill>
            <a:srgbClr val="F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6000" b="1">
                <a:solidFill>
                  <a:srgbClr val="FFFFFF"/>
                </a:solidFill>
                <a:latin typeface="PingFang SC"/>
                <a:ea typeface="PingFang SC"/>
              </a:rPr>
              <a:t>db-agent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7A2B8"/>
                </a:solidFill>
                <a:latin typeface="PingFang SC"/>
                <a:ea typeface="PingFang SC"/>
              </a:rPr>
              <a:t>让业务用一句话查数，安全、准确、可审计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F2F5F8"/>
                </a:solidFill>
                <a:latin typeface="PingFang SC"/>
                <a:ea typeface="PingFang SC"/>
              </a:rPr>
              <a:t>自然语言 → SQL / Hive / HBase / 指标口径 / 趋势分析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F2F5F8"/>
                </a:solidFill>
                <a:latin typeface="PingFang SC"/>
                <a:ea typeface="PingFang SC"/>
              </a:rPr>
              <a:t>不是聊天机器人，而是让模型写 SQL 不出事的工程系统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1264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产品介绍 · 演示版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先看业务现状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取数为什么这么难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94960" cy="42062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PingFang SC"/>
                <a:ea typeface="PingFang SC"/>
              </a:rPr>
              <a:t>业务侧的痛点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49377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查数要等数据组排期，改一个字段等几周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SQL / Hive / HBase 三套语法，业务学不会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同一个指标，各部门口径还不一样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94960" cy="42062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819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PingFang SC"/>
                <a:ea typeface="PingFang SC"/>
              </a:rPr>
              <a:t>市面工具的短板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84248"/>
            <a:ext cx="49377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Text-to-SQL 只生成 SQL，不负责执行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不鉴权：谁能查 salary 没人管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报错不会自愈，结果对错没评测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7607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F2A43"/>
                </a:solidFill>
                <a:latin typeface="PingFang SC"/>
                <a:ea typeface="PingFang SC"/>
              </a:rPr>
              <a:t>结论：缺的不是“能写 SQL 的模型”，而是“让 SQL 不出事的工程系统”。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我们的答案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说人话 → 查数 → 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698480" cy="96012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164592" cy="960120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55448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0F2A43"/>
                </a:solidFill>
                <a:latin typeface="PingFang SC"/>
                <a:ea typeface="PingFang SC"/>
              </a:rPr>
              <a:t>说人话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554480"/>
            <a:ext cx="7132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业务用中文提问，不需要懂 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14600"/>
            <a:ext cx="10698480" cy="96012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514600"/>
            <a:ext cx="164592" cy="960120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65176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0F2A43"/>
                </a:solidFill>
                <a:latin typeface="PingFang SC"/>
                <a:ea typeface="PingFang SC"/>
              </a:rPr>
              <a:t>安全查数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651760"/>
            <a:ext cx="7132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权限硬拦截 + 敏感操作人工审批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11880"/>
            <a:ext cx="10698480" cy="96012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611880"/>
            <a:ext cx="164592" cy="960120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74904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0F2A43"/>
                </a:solidFill>
                <a:latin typeface="PingFang SC"/>
                <a:ea typeface="PingFang SC"/>
              </a:rPr>
              <a:t>自动分析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3749040"/>
            <a:ext cx="7132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多 Agent 分工：查数、分析、口径、质量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709160"/>
            <a:ext cx="10698480" cy="96012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4709160"/>
            <a:ext cx="164592" cy="960120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84632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0F2A43"/>
                </a:solidFill>
                <a:latin typeface="PingFang SC"/>
                <a:ea typeface="PingFang SC"/>
              </a:rPr>
              <a:t>可评测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4846320"/>
            <a:ext cx="7132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失败自愈 + 全程可观测 + 评测兜底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五个关键词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多引擎 · 多 Agent · 安全 · 自愈 · 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520440" cy="150876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20440" cy="128016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PingFang SC"/>
                <a:ea typeface="PingFang SC"/>
              </a:rPr>
              <a:t>多引擎问数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SQL / Hive / HBase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520440" cy="150876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1417320"/>
            <a:ext cx="3520440" cy="128016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3736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PingFang SC"/>
                <a:ea typeface="PingFang SC"/>
              </a:rPr>
              <a:t>6 Agent 编排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24028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查数 / 分析 / 口径 / 质量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9" y="1417320"/>
            <a:ext cx="3520440" cy="150876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38159" y="1417320"/>
            <a:ext cx="3520440" cy="128016"/>
          </a:xfrm>
          <a:prstGeom prst="roundRect">
            <a:avLst/>
          </a:prstGeom>
          <a:solidFill>
            <a:srgbClr val="F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9" y="173736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PingFang SC"/>
                <a:ea typeface="PingFang SC"/>
              </a:rPr>
              <a:t>权限与 HITL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224028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RBAC + 人工审批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154680"/>
            <a:ext cx="3520440" cy="150876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3154680"/>
            <a:ext cx="3520440" cy="128016"/>
          </a:xfrm>
          <a:prstGeom prst="round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47472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PingFang SC"/>
                <a:ea typeface="PingFang SC"/>
              </a:rPr>
              <a:t>三层自愈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97764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重试 / 重写 / 熔断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154680"/>
            <a:ext cx="3520440" cy="150876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89120" y="3154680"/>
            <a:ext cx="3520440" cy="128016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47472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PingFang SC"/>
                <a:ea typeface="PingFang SC"/>
              </a:rPr>
              <a:t>评测与自学习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97764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Eval + 成功 SQL 回流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2578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F2A43"/>
                </a:solidFill>
                <a:latin typeface="PingFang SC"/>
                <a:ea typeface="PingFang SC"/>
              </a:rPr>
              <a:t>一句话：把数据库领域的高频能力，做成了可拼装的 Agent 模块。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安全，是金融场景的第一诉求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权限硬拦截 + 人工审批 + 审计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94960" cy="24688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PingFang SC"/>
                <a:ea typeface="PingFang SC"/>
              </a:rPr>
              <a:t>5 角色 RBAC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4937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工具级白名单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表级过滤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行级 WHERE dept_id 隔离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敏感列 salary / cost / budget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94960" cy="24688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819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PingFang SC"/>
                <a:ea typeface="PingFang SC"/>
              </a:rPr>
              <a:t>三层护栏 + HITL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84248"/>
            <a:ext cx="4937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输入：注入 / 空 / 超长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SQL：仅 SELECT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输出：PII 告警 + prompt 泄露硬拦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敏感操作人工审批，可暂停可恢复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069080"/>
            <a:ext cx="10972800" cy="19202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23367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PingFang SC"/>
                <a:ea typeface="PingFang SC"/>
              </a:rPr>
              <a:t>审计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636008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Trace JSONL：SQL 参数脱敏后落盘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Opik / Prometheus / 告警：每一步可追溯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Web API 可选 Bearer Token 鉴权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不怕模型出错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三层自愈 + 熔断 + 幂等 + 观测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94960" cy="24688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17A2B8"/>
                </a:solidFill>
                <a:latin typeface="PingFang SC"/>
                <a:ea typeface="PingFang SC"/>
              </a:rPr>
              <a:t>错误接得住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4937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API 重试：429/5xx 指数退避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SQL 报错回喂模型重写（≤2 次）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Agent 超时回 Router 重规划（≤1 次）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Reflection 不通过退回重写（≤2 次）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94960" cy="24688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819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17A2B8"/>
                </a:solidFill>
                <a:latin typeface="PingFang SC"/>
                <a:ea typeface="PingFang SC"/>
              </a:rPr>
              <a:t>成本守得住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84248"/>
            <a:ext cx="4937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熔断：连续失败快速失败，不烧钱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幂等：写工具不重复执行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模板 &gt; 缓存 &gt; LLM：高频问题零 LLM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069080"/>
            <a:ext cx="10972800" cy="19202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23367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17A2B8"/>
                </a:solidFill>
                <a:latin typeface="PingFang SC"/>
                <a:ea typeface="PingFang SC"/>
              </a:rPr>
              <a:t>全程可观测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636008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Trace JSONL（SQL 脱敏）+ Opik 双写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Prometheus /api/metrics + Webhook 告警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Task board：每一步执行状态可见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越用越聪明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记忆 + 检索 + 自学习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94960" cy="24688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E86DE"/>
                </a:solidFill>
                <a:latin typeface="PingFang SC"/>
                <a:ea typeface="PingFang SC"/>
              </a:rPr>
              <a:t>记忆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4937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短期：最近几轮 + 摘要压缩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长期：向量库跨会话召回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Self-Query：先拆意图再过滤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94960" cy="24688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819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E86DE"/>
                </a:solidFill>
                <a:latin typeface="PingFang SC"/>
                <a:ea typeface="PingFang SC"/>
              </a:rPr>
              <a:t>检索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84248"/>
            <a:ext cx="4937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HyDE：短查询先扩写再检索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LLM Rerank：候选精排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Schema Linking：直接命中相关表和字段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069080"/>
            <a:ext cx="10972800" cy="19202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23367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E86DE"/>
                </a:solidFill>
                <a:latin typeface="PingFang SC"/>
                <a:ea typeface="PingFang SC"/>
              </a:rPr>
              <a:t>自学习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636008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成功 SQL 从工具层捕获，不从模型文本猜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质量门 + 真实库 dry-run 通过才回流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人工批准的 SQL 也回流，可信度更高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怎么用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CLI / Web / Streamlit /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566160" cy="24688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PingFang SC"/>
                <a:ea typeface="PingFang SC"/>
              </a:rPr>
              <a:t>CLI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3108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安装即用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适合个人和快速验证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566160" cy="24688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58191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PingFang SC"/>
                <a:ea typeface="PingFang SC"/>
              </a:rPr>
              <a:t>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984248"/>
            <a:ext cx="3108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SSE 流式思考过程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HITL 审批弹窗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图表 + 点赞回流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17320"/>
            <a:ext cx="3566160" cy="24688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58191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PingFang SC"/>
                <a:ea typeface="PingFang SC"/>
              </a:rPr>
              <a:t>API / 部署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984248"/>
            <a:ext cx="3108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FastAPI 接口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Docker Compose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状态可外置 Redis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1480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F2A43"/>
                </a:solidFill>
                <a:latin typeface="PingFang SC"/>
                <a:ea typeface="PingFang SC"/>
              </a:rPr>
              <a:t>可接入方式灵活：既能做交互产品，也能作为企业数据问答中间件嵌入现有系统。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能用在哪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四个典型场景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49240" cy="16916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0F2A43"/>
                </a:solidFill>
                <a:latin typeface="PingFang SC"/>
                <a:ea typeface="PingFang SC"/>
              </a:rPr>
              <a:t>业务自助取数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销售、财务、HR 一句话查数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49240" cy="16916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459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0F2A43"/>
                </a:solidFill>
                <a:latin typeface="PingFang SC"/>
                <a:ea typeface="PingFang SC"/>
              </a:rPr>
              <a:t>数据质量预检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查数前先扫 NULL / 日期 / 异常值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337560"/>
            <a:ext cx="5349240" cy="16916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661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0F2A43"/>
                </a:solidFill>
                <a:latin typeface="PingFang SC"/>
                <a:ea typeface="PingFang SC"/>
              </a:rPr>
              <a:t>指标口径查询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GMV 怎么算、退款扣不扣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337560"/>
            <a:ext cx="5349240" cy="16916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5661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0F2A43"/>
                </a:solidFill>
                <a:latin typeface="PingFang SC"/>
                <a:ea typeface="PingFang SC"/>
              </a:rPr>
              <a:t>趋势分析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114800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跨地区、跨时间对比 + 图表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用数字说话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不是 Demo，是可验证的系统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3520440" cy="14630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3520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2E86DE"/>
                </a:solidFill>
                <a:latin typeface="PingFang SC"/>
                <a:ea typeface="PingFang SC"/>
              </a:rPr>
              <a:t>435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离线测试用例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520440" cy="14630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691640"/>
            <a:ext cx="3520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2E86DE"/>
                </a:solidFill>
                <a:latin typeface="PingFang SC"/>
                <a:ea typeface="PingFang SC"/>
              </a:rPr>
              <a:t>47 + 30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331720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Eval + Golden 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9" y="1463040"/>
            <a:ext cx="3520440" cy="14630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9" y="1691640"/>
            <a:ext cx="3520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2E86DE"/>
                </a:solidFill>
                <a:latin typeface="PingFang SC"/>
                <a:ea typeface="PingFang SC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59" y="2331720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专职 Agent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00400"/>
            <a:ext cx="3520440" cy="14630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429000"/>
            <a:ext cx="3520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2E86DE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069080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入口形态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200400"/>
            <a:ext cx="3520440" cy="14630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3429000"/>
            <a:ext cx="3520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2E86DE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069080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数据源类型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59" y="3200400"/>
            <a:ext cx="3520440" cy="14630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59" y="3429000"/>
            <a:ext cx="3520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2E86DE"/>
                </a:solidFill>
                <a:latin typeface="PingFang SC"/>
                <a:ea typeface="PingFang SC"/>
              </a:rP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59" y="4069080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离线零 API 可跑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和市面 Text-to-SQL 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差在“执行之后”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94960" cy="42062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PingFang SC"/>
                <a:ea typeface="PingFang SC"/>
              </a:rPr>
              <a:t>市面工具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49377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生成 SQL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不管执行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不鉴权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不会自愈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对错无评测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94960" cy="42062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8191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E8B57"/>
                </a:solidFill>
                <a:latin typeface="PingFang SC"/>
                <a:ea typeface="PingFang SC"/>
              </a:rPr>
              <a:t>db-agent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84248"/>
            <a:ext cx="49377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生成 + 真实执行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RBAC 权限硬拦截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HITL 人工审批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三层自愈 + 熔断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评测 + 自学习闭环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0F2A43"/>
                </a:solidFill>
                <a:latin typeface="PingFang SC"/>
                <a:ea typeface="PingFang SC"/>
              </a:rPr>
              <a:t>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32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A6B7B"/>
                </a:solidFill>
                <a:latin typeface="PingFang SC"/>
                <a:ea typeface="PingFang SC"/>
              </a:rPr>
              <a:t>怎么合作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566160" cy="24688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E86DE"/>
                </a:solidFill>
                <a:latin typeface="PingFang SC"/>
                <a:ea typeface="PingFang SC"/>
              </a:rPr>
              <a:t>接真实数据源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3108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PostgreSQL / HBase / Hive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真实连接器替换模拟器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566160" cy="24688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58191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E86DE"/>
                </a:solidFill>
                <a:latin typeface="PingFang SC"/>
                <a:ea typeface="PingFang SC"/>
              </a:rPr>
              <a:t>私有化部署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984248"/>
            <a:ext cx="3108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数据不出域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本地 Embedding / Rerank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17320"/>
            <a:ext cx="3566160" cy="24688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58191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E86DE"/>
                </a:solidFill>
                <a:latin typeface="PingFang SC"/>
                <a:ea typeface="PingFang SC"/>
              </a:rPr>
              <a:t>业务定制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984248"/>
            <a:ext cx="3108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指标口径注册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权限模型定制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评测集共建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1480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0F2A43"/>
                </a:solidFill>
                <a:latin typeface="PingFang SC"/>
                <a:ea typeface="PingFang SC"/>
              </a:rPr>
              <a:t>可以从一个 POC 开始：选一个业务场景，一周内看到“一句话查数 + 安全审批 + 可评测”。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4206240"/>
            <a:ext cx="12191695" cy="54864"/>
          </a:xfrm>
          <a:prstGeom prst="roundRect">
            <a:avLst/>
          </a:prstGeom>
          <a:solidFill>
            <a:srgbClr val="F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800" b="1">
                <a:solidFill>
                  <a:srgbClr val="FFFFFF"/>
                </a:solidFill>
                <a:latin typeface="PingFang SC"/>
                <a:ea typeface="PingFang SC"/>
              </a:rPr>
              <a:t>谢谢 ·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17A2B8"/>
                </a:solidFill>
                <a:latin typeface="PingFang SC"/>
                <a:ea typeface="PingFang SC"/>
              </a:rPr>
              <a:t>db-agent：让业务用一句话查数，安全、准确、可审计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联系 / 演示信息占位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