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1"/>
  </p:notesMasterIdLst>
  <p:handoutMasterIdLst>
    <p:handoutMasterId r:id="rId32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1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37" userDrawn="1">
          <p15:clr>
            <a:srgbClr val="A4A3A4"/>
          </p15:clr>
        </p15:guide>
        <p15:guide id="2" pos="2170" userDrawn="1">
          <p15:clr>
            <a:srgbClr val="A4A3A4"/>
          </p15:clr>
        </p15:guide>
        <p15:guide id="3" orient="horz" pos="3224" userDrawn="1">
          <p15:clr>
            <a:srgbClr val="A4A3A4"/>
          </p15:clr>
        </p15:guide>
        <p15:guide id="4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4994" autoAdjust="0"/>
  </p:normalViewPr>
  <p:slideViewPr>
    <p:cSldViewPr snapToGrid="0">
      <p:cViewPr varScale="1">
        <p:scale>
          <a:sx n="143" d="100"/>
          <a:sy n="143" d="100"/>
        </p:scale>
        <p:origin x="219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1860" y="-66"/>
      </p:cViewPr>
      <p:guideLst>
        <p:guide orient="horz" pos="3437"/>
        <p:guide pos="2170"/>
        <p:guide orient="horz" pos="3224"/>
        <p:guide pos="223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1" Type="http://schemas.openxmlformats.org/officeDocument/2006/relationships/slide" Target="slides/slide2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300"/>
            </a:lvl1pPr>
          </a:lstStyle>
          <a:p>
            <a:fld id="{51753947-7B72-48EB-B29B-D24BB604E423}" type="datetimeFigureOut">
              <a:rPr lang="en-US" smtClean="0"/>
              <a:pPr/>
              <a:t>9/23/2019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300"/>
            </a:lvl1pPr>
          </a:lstStyle>
          <a:p>
            <a:fld id="{6CCE32E6-A0C2-4A59-8841-7880DF92D8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58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/>
          <a:lstStyle>
            <a:lvl1pPr algn="r">
              <a:defRPr sz="1300"/>
            </a:lvl1pPr>
          </a:lstStyle>
          <a:p>
            <a:fld id="{2007846E-BD64-4EEE-A45A-E1445DB07597}" type="datetimeFigureOut">
              <a:rPr lang="en-US" smtClean="0"/>
              <a:pPr/>
              <a:t>9/23/2019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2" tIns="49522" rIns="99042" bIns="4952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2" tIns="49522" rIns="99042" bIns="4952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9042" tIns="49522" rIns="99042" bIns="49522" rtlCol="0" anchor="b"/>
          <a:lstStyle>
            <a:lvl1pPr algn="r">
              <a:defRPr sz="1300"/>
            </a:lvl1pPr>
          </a:lstStyle>
          <a:p>
            <a:fld id="{10CB24D3-3394-4B7A-975A-5115018E7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75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citi-r_2c-blu_pos_rgb-MASTER_15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0200" y="4949825"/>
            <a:ext cx="1857375" cy="1136650"/>
          </a:xfrm>
          <a:prstGeom prst="rect">
            <a:avLst/>
          </a:prstGeom>
          <a:noFill/>
        </p:spPr>
      </p:pic>
      <p:sp>
        <p:nvSpPr>
          <p:cNvPr id="8" name="Rectangle 83"/>
          <p:cNvSpPr>
            <a:spLocks noGrp="1" noChangeArrowheads="1"/>
          </p:cNvSpPr>
          <p:nvPr>
            <p:ph type="title"/>
          </p:nvPr>
        </p:nvSpPr>
        <p:spPr>
          <a:xfrm>
            <a:off x="376238" y="904875"/>
            <a:ext cx="8275637" cy="1470025"/>
          </a:xfrm>
          <a:extLst>
            <a:ext uri="{FAA26D3D-D897-4be2-8F04-BA451C77F1D7}"/>
          </a:extLst>
        </p:spPr>
        <p:txBody>
          <a:bodyPr lIns="0" tIns="0" rIns="0" bIns="0" anchor="t" anchorCtr="0"/>
          <a:lstStyle>
            <a:lvl1pPr>
              <a:defRPr sz="3200" smtClean="0">
                <a:solidFill>
                  <a:schemeClr val="tx2"/>
                </a:solidFill>
                <a:ea typeface="ヒラギノ角ゴ Pro W3"/>
                <a:cs typeface="Genev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9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376238" y="4974336"/>
            <a:ext cx="6000750" cy="928688"/>
          </a:xfrm>
          <a:prstGeom prst="rect">
            <a:avLst/>
          </a:prstGeom>
          <a:extLst>
            <a:ext uri="{FAA26D3D-D897-4be2-8F04-BA451C77F1D7}"/>
          </a:extLst>
        </p:spPr>
        <p:txBody>
          <a:bodyPr lIns="0" tIns="0" rIns="0" bIns="0"/>
          <a:lstStyle>
            <a:lvl1pPr marL="0" indent="0">
              <a:spcBef>
                <a:spcPct val="0"/>
              </a:spcBef>
              <a:spcAft>
                <a:spcPct val="0"/>
              </a:spcAft>
              <a:buFontTx/>
              <a:buNone/>
              <a:defRPr sz="1400" smtClean="0">
                <a:solidFill>
                  <a:schemeClr val="tx1"/>
                </a:solidFill>
                <a:latin typeface="+mn-lt"/>
                <a:ea typeface="ヒラギノ角ゴ Pro W3"/>
                <a:cs typeface="Geneva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2194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81000" y="1676400"/>
            <a:ext cx="8229600" cy="4419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219456"/>
            <a:ext cx="8311896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381000" y="1676400"/>
            <a:ext cx="403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1"/>
          </p:nvPr>
        </p:nvSpPr>
        <p:spPr>
          <a:xfrm>
            <a:off x="4648200" y="1676400"/>
            <a:ext cx="403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21945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4904" y="219456"/>
            <a:ext cx="82296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7" name="Picture 8" descr="citi-r_2c-blu_pos_rgb-MASTER_15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34375" y="6334125"/>
            <a:ext cx="520700" cy="319088"/>
          </a:xfrm>
          <a:prstGeom prst="rect">
            <a:avLst/>
          </a:prstGeom>
          <a:noFill/>
        </p:spPr>
      </p:pic>
      <p:sp>
        <p:nvSpPr>
          <p:cNvPr id="9" name="Rectangle 10"/>
          <p:cNvSpPr>
            <a:spLocks noChangeArrowheads="1"/>
          </p:cNvSpPr>
          <p:nvPr/>
        </p:nvSpPr>
        <p:spPr bwMode="black">
          <a:xfrm>
            <a:off x="1044575" y="6510338"/>
            <a:ext cx="206692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0" hangingPunct="0">
              <a:lnSpc>
                <a:spcPct val="95000"/>
              </a:lnSpc>
              <a:spcBef>
                <a:spcPct val="75000"/>
              </a:spcBef>
              <a:spcAft>
                <a:spcPct val="20000"/>
              </a:spcAft>
            </a:pPr>
            <a:r>
              <a:rPr lang="en-GB" sz="1000" dirty="0" smtClean="0">
                <a:cs typeface="Geneva" pitchFamily="34" charset="0"/>
              </a:rPr>
              <a:t>Markets</a:t>
            </a:r>
            <a:r>
              <a:rPr lang="en-GB" sz="1000" baseline="0" dirty="0" smtClean="0">
                <a:cs typeface="Geneva" pitchFamily="34" charset="0"/>
              </a:rPr>
              <a:t> Quantitative Analysis</a:t>
            </a:r>
            <a:endParaRPr lang="en-US" sz="1000" dirty="0">
              <a:cs typeface="Geneva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3114675" y="6512079"/>
            <a:ext cx="481012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marL="0" marR="0" indent="0" algn="r" defTabSz="914400" rtl="0" eaLnBrk="0" fontAlgn="auto" latinLnBrk="0" hangingPunct="0">
              <a:lnSpc>
                <a:spcPct val="95000"/>
              </a:lnSpc>
              <a:spcBef>
                <a:spcPct val="7500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 Classification </a:t>
            </a:r>
            <a:r>
              <a:rPr lang="en-US" sz="1000" dirty="0" smtClean="0"/>
              <a:t>: Public</a:t>
            </a:r>
            <a:endParaRPr lang="en-US" sz="1000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229600" cy="44497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Box 10"/>
          <p:cNvSpPr txBox="1"/>
          <p:nvPr/>
        </p:nvSpPr>
        <p:spPr>
          <a:xfrm>
            <a:off x="376237" y="6503193"/>
            <a:ext cx="55483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1A8228-0E93-4E2A-B0EC-C2D10EA11886}" type="slidenum">
              <a:rPr lang="en-US" sz="1000" smtClean="0">
                <a:solidFill>
                  <a:schemeClr val="tx1"/>
                </a:solidFill>
              </a:rPr>
              <a:pPr/>
              <a:t>‹#›</a:t>
            </a:fld>
            <a:endParaRPr lang="en-US" sz="10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eaLnBrk="1" hangingPunct="1">
        <a:defRPr sz="2400" b="0">
          <a:solidFill>
            <a:schemeClr val="tx2"/>
          </a:solidFill>
          <a:latin typeface="+mj-lt"/>
        </a:defRPr>
      </a:lvl1pPr>
    </p:titleStyle>
    <p:bodyStyle>
      <a:lvl1pPr marL="225425" marR="0" indent="-225425" algn="l" defTabSz="914400" rtl="0" eaLnBrk="1" fontAlgn="base" latinLnBrk="0" hangingPunct="1">
        <a:lnSpc>
          <a:spcPct val="95000"/>
        </a:lnSpc>
        <a:spcAft>
          <a:spcPct val="20000"/>
        </a:spcAft>
        <a:buClrTx/>
        <a:buSzTx/>
        <a:buFont typeface="Arial" pitchFamily="34" charset="0"/>
        <a:buChar char="•"/>
        <a:tabLst/>
        <a:defRPr kumimoji="0" lang="en-US" sz="1600" b="0" i="0" u="none" strike="noStrike" kern="0" cap="none" spc="0" normalizeH="0" baseline="0" noProof="0" dirty="0" smtClean="0">
          <a:ln>
            <a:noFill/>
          </a:ln>
          <a:solidFill>
            <a:srgbClr val="53565A"/>
          </a:solidFill>
          <a:effectLst/>
          <a:uLnTx/>
          <a:uFillTx/>
          <a:latin typeface="Arial"/>
        </a:defRPr>
      </a:lvl1pPr>
      <a:lvl2pPr marL="461963" indent="-225425" eaLnBrk="1" hangingPunct="1">
        <a:buFont typeface="Arial" pitchFamily="34" charset="0"/>
        <a:buChar char="−"/>
        <a:defRPr sz="1600">
          <a:solidFill>
            <a:schemeClr val="tx1"/>
          </a:solidFill>
          <a:latin typeface="+mn-lt"/>
        </a:defRPr>
      </a:lvl2pPr>
      <a:lvl3pPr marL="688975" marR="0" indent="-236538" algn="l" defTabSz="914400" rtl="0" eaLnBrk="1" fontAlgn="base" latinLnBrk="0" hangingPunct="1">
        <a:lnSpc>
          <a:spcPct val="95000"/>
        </a:lnSpc>
        <a:spcAft>
          <a:spcPct val="20000"/>
        </a:spcAft>
        <a:buClrTx/>
        <a:buSzTx/>
        <a:buFont typeface="Arial" pitchFamily="34" charset="0"/>
        <a:buChar char="•"/>
        <a:tabLst/>
        <a:defRPr kumimoji="0" lang="en-US" sz="1600" b="0" i="0" u="none" strike="noStrike" kern="0" cap="none" spc="0" normalizeH="0" baseline="0" noProof="0" dirty="0" smtClean="0">
          <a:ln>
            <a:noFill/>
          </a:ln>
          <a:solidFill>
            <a:srgbClr val="53565A"/>
          </a:solidFill>
          <a:effectLst/>
          <a:uLnTx/>
          <a:uFillTx/>
          <a:latin typeface="Arial"/>
        </a:defRPr>
      </a:lvl3pPr>
      <a:lvl4pPr marL="914400" marR="0" indent="-236538" algn="l" defTabSz="914400" rtl="0" eaLnBrk="1" fontAlgn="base" latinLnBrk="0" hangingPunct="1">
        <a:lnSpc>
          <a:spcPct val="95000"/>
        </a:lnSpc>
        <a:spcAft>
          <a:spcPct val="20000"/>
        </a:spcAft>
        <a:buClrTx/>
        <a:buSzTx/>
        <a:buFont typeface="Arial" pitchFamily="34" charset="0"/>
        <a:buChar char="−"/>
        <a:tabLst/>
        <a:defRPr kumimoji="0" lang="en-US" sz="1600" b="0" i="0" u="none" strike="noStrike" kern="0" cap="none" spc="0" normalizeH="0" baseline="0" noProof="0" dirty="0" smtClean="0">
          <a:ln>
            <a:noFill/>
          </a:ln>
          <a:solidFill>
            <a:srgbClr val="53565A"/>
          </a:solidFill>
          <a:effectLst/>
          <a:uLnTx/>
          <a:uFillTx/>
          <a:latin typeface="Arial"/>
        </a:defRPr>
      </a:lvl4pPr>
      <a:lvl5pPr marL="1139825" marR="0" indent="-236538" algn="l" defTabSz="914400" rtl="0" eaLnBrk="1" fontAlgn="base" latinLnBrk="0" hangingPunct="1">
        <a:lnSpc>
          <a:spcPct val="95000"/>
        </a:lnSpc>
        <a:spcAft>
          <a:spcPct val="20000"/>
        </a:spcAft>
        <a:buClrTx/>
        <a:buSzTx/>
        <a:buFont typeface="Arial" pitchFamily="34" charset="0"/>
        <a:buChar char="•"/>
        <a:tabLst/>
        <a:defRPr kumimoji="0" lang="en-US" sz="1600" b="0" i="0" u="none" strike="noStrike" kern="0" cap="none" spc="0" normalizeH="0" baseline="0" noProof="0" dirty="0" smtClean="0">
          <a:ln>
            <a:noFill/>
          </a:ln>
          <a:solidFill>
            <a:srgbClr val="53565A"/>
          </a:solidFill>
          <a:effectLst/>
          <a:uLnTx/>
          <a:uFillTx/>
          <a:latin typeface="Arial"/>
        </a:defRPr>
      </a:lvl5pPr>
    </p:bodyStyle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db-agent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b="0"/>
              <a:t>• 企业级自然语言数据库分析 Agent · 工作经历项目讲解</a:t>
            </a:r>
          </a:p>
          <a:p>
            <a:pPr lvl="1"/>
            <a:r>
              <a:rPr b="0"/>
              <a:t>• 自然语言 → SQL / Hive / HBase / 指标口径 / 趋势分析</a:t>
            </a:r>
          </a:p>
          <a:p>
            <a:pPr lvl="1"/>
            <a:r>
              <a:rPr b="0"/>
              <a:t>• 独立开发 · Python / LangGraph / ChromaDB / FastAPI / React</a:t>
            </a:r>
          </a:p>
          <a:p>
            <a:pPr lvl="1"/>
            <a:r>
              <a:rPr b="0"/>
              <a:t>• 定位：Agent = 模型 + Harness</a:t>
            </a:r>
          </a:p>
          <a:p>
            <a:pPr lvl="1"/>
            <a:r>
              <a:rPr b="0"/>
              <a:t>• 本项目做 Harness：工具、权限、记忆、编排、护栏、自愈、评测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工作经历 → 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平时工作 · 花旗 Olympus Core（3 年 Data Analyst）</a:t>
            </a:r>
          </a:p>
          <a:p>
            <a:pPr lvl="1"/>
            <a:r>
              <a:rPr b="0"/>
              <a:t>• Kafka 实时流 + SFTP 批量双通道，负责全数据平台交付保障</a:t>
            </a:r>
          </a:p>
          <a:p>
            <a:pPr lvl="1"/>
            <a:r>
              <a:rPr b="0"/>
              <a:t>• 覆盖 load / validation / dispatcher / monitor / recon 全链路</a:t>
            </a:r>
          </a:p>
          <a:p>
            <a:pPr lvl="1"/>
            <a:r>
              <a:rPr b="0"/>
              <a:t>• 执行层 Spark + HDFS，调度层 Autosys</a:t>
            </a:r>
          </a:p>
          <a:p>
            <a:pPr lvl="1"/>
            <a:r>
              <a:rPr b="0"/>
              <a:t>• 四条业务线双通道稳定交付，交付质量事故 0</a:t>
            </a:r>
          </a:p>
          <a:p>
            <a:pPr lvl="1"/>
            <a:r>
              <a:rPr b="0"/>
              <a:t>• 硬指标：准时性、完整性、口径一致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项目背景 · 痛点与动机</a:t>
            </a:r>
          </a:p>
          <a:p>
            <a:pPr lvl="1"/>
            <a:r>
              <a:rPr b="0"/>
              <a:t>• 业务取数依赖专人写 SQL，沟通链路长</a:t>
            </a:r>
          </a:p>
          <a:p>
            <a:pPr lvl="1"/>
            <a:r>
              <a:rPr b="0"/>
              <a:t>• 数据源多：关系库 / 数仓 / NoSQL，语法与口径复杂</a:t>
            </a:r>
          </a:p>
          <a:p>
            <a:pPr lvl="1"/>
            <a:r>
              <a:rPr b="0"/>
              <a:t>• Text-to-SQL 只生成不执行，不管权限、不会自愈</a:t>
            </a:r>
          </a:p>
          <a:p>
            <a:pPr lvl="1"/>
            <a:r>
              <a:rPr b="0"/>
              <a:t>• db-agent：模型 + 工具 + 权限 + 自愈 + 评测的可交付 Harness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业务痛点</a:t>
            </a:r>
          </a:p>
          <a:p>
            <a:pPr lvl="1"/>
            <a:r>
              <a:rPr b="0"/>
              <a:t>• 取数依赖专人写 SQL，沟通链路长</a:t>
            </a:r>
          </a:p>
          <a:p>
            <a:pPr lvl="1"/>
            <a:r>
              <a:rPr b="0"/>
              <a:t>• 数据源多：关系库 / 数仓 / NoSQL</a:t>
            </a:r>
          </a:p>
          <a:p>
            <a:pPr lvl="1"/>
            <a:r>
              <a:rPr b="0"/>
              <a:t>• Agent 直接查库：权限、安全、审计难控</a:t>
            </a:r>
          </a:p>
          <a:p>
            <a:pPr lvl="1"/>
            <a:r>
              <a:rPr b="0"/>
              <a:t>• LLM 输出不稳定，容易编造数据或反复报错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项目目标</a:t>
            </a:r>
          </a:p>
          <a:p>
            <a:pPr lvl="1"/>
            <a:r>
              <a:rPr b="0"/>
              <a:t>• 自然语言自助取数，覆盖 SQL / Hive / HBase</a:t>
            </a:r>
          </a:p>
          <a:p>
            <a:pPr lvl="1"/>
            <a:r>
              <a:rPr b="0"/>
              <a:t>• 多 Agent 编排：专业分工 + 质量闸门</a:t>
            </a:r>
          </a:p>
          <a:p>
            <a:pPr lvl="1"/>
            <a:r>
              <a:rPr b="0"/>
              <a:t>• RBAC + HITL + 护栏：越权与误操作兜底</a:t>
            </a:r>
          </a:p>
          <a:p>
            <a:pPr lvl="1"/>
            <a:r>
              <a:rPr b="0"/>
              <a:t>• 三层自愈 + 全程可观测 + 可评测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 lvl="1"/>
            <a:r>
              <a:rPr b="0"/>
              <a:t>• 入口层：CLI main.py / Streamlit app.py / Web FastAPI + SSE + React</a:t>
            </a:r>
          </a:p>
          <a:p>
            <a:pPr lvl="1"/>
            <a:r>
              <a:rPr b="0"/>
              <a:t>• Harness 六维：编排 / 工具 / 上下文 / 记忆 / 约束 / 观测</a:t>
            </a:r>
          </a:p>
          <a:p>
            <a:pPr lvl="1"/>
            <a:r>
              <a:rPr b="0"/>
              <a:t>• 可靠性：重试 + 熔断 + 幂等 + 失败重规划 + Reflection</a:t>
            </a:r>
          </a:p>
          <a:p>
            <a:pPr lvl="1"/>
            <a:r>
              <a:rPr b="0"/>
              <a:t>• 数据层：SQLite 业务库 / Hive 模拟数仓 / HBase 内存模拟 KV</a:t>
            </a:r>
          </a:p>
          <a:p>
            <a:pPr lvl="1"/>
            <a:r>
              <a:rPr b="0"/>
              <a:t>• 状态：Checkpointer SQLite / Redis，断点续跑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工程机制全景</a:t>
            </a:r>
          </a:p>
        </p:txBody>
      </p:sp>
      <p:pic>
        <p:nvPicPr>
          <p:cNvPr id="3" name="Picture 2" descr="mechanism-overvie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554480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核心机制 1：多 Agent 编排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 lvl="1"/>
            <a:r>
              <a:rPr b="0"/>
              <a:t>• 6 个专业 Agent：SQL / Analysis / Strategy / HBase / Hive / DataQuality</a:t>
            </a:r>
          </a:p>
          <a:p>
            <a:pPr lvl="1"/>
            <a:r>
              <a:rPr b="0"/>
              <a:t>• Router 三层短路：硬规则 → LRU 缓存 → LLM</a:t>
            </a:r>
          </a:p>
          <a:p>
            <a:pPr lvl="1"/>
            <a:r>
              <a:rPr b="0"/>
              <a:t>• 质量闸：DataQuality 预检 / Confidence Gate / Reflection 重写 ≤2</a:t>
            </a:r>
          </a:p>
          <a:p>
            <a:pPr lvl="1"/>
            <a:r>
              <a:rPr b="0"/>
              <a:t>• 失败重规划 ≤1 次，防死循环</a:t>
            </a:r>
          </a:p>
          <a:p>
            <a:pPr lvl="1"/>
            <a:r>
              <a:rPr b="0"/>
              <a:t>• Checkpointer：SQLite / Redis，HITL 断点续跑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核心机制 2：安全与权限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RBAC + 三层护栏</a:t>
            </a:r>
          </a:p>
          <a:p>
            <a:pPr lvl="1"/>
            <a:r>
              <a:rPr b="0"/>
              <a:t>• 5 角色：dba / manager / analyst / viewer / support</a:t>
            </a:r>
          </a:p>
          <a:p>
            <a:pPr lvl="1"/>
            <a:r>
              <a:rPr b="0"/>
              <a:t>• 权限存 DB 可热改；工具 / 表 / 行三级</a:t>
            </a:r>
          </a:p>
          <a:p>
            <a:pPr lvl="1"/>
            <a:r>
              <a:rPr b="0"/>
              <a:t>• L1 输入护栏：注入 / 空 / 超长</a:t>
            </a:r>
          </a:p>
          <a:p>
            <a:pPr lvl="1"/>
            <a:r>
              <a:rPr b="0"/>
              <a:t>• L2 SQL 护栏：仅 SELECT</a:t>
            </a:r>
          </a:p>
          <a:p>
            <a:pPr lvl="1"/>
            <a:r>
              <a:rPr b="0"/>
              <a:t>• L3 输出护栏：PII 告警 + prompt 泄露硬拦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双层 HITL</a:t>
            </a:r>
          </a:p>
          <a:p>
            <a:pPr lvl="1"/>
            <a:r>
              <a:rPr b="0"/>
              <a:t>• SQL 敏感列：salary / cost / budget</a:t>
            </a:r>
          </a:p>
          <a:p>
            <a:pPr lvl="1"/>
            <a:r>
              <a:rPr b="0"/>
              <a:t>• HBase 写操作：put / delete / drop / truncate</a:t>
            </a:r>
          </a:p>
          <a:p>
            <a:pPr lvl="1"/>
            <a:r>
              <a:rPr b="0"/>
              <a:t>• LangGraph 原生 interrupt + resume</a:t>
            </a:r>
          </a:p>
          <a:p>
            <a:pPr lvl="1"/>
            <a:r>
              <a:rPr b="0"/>
              <a:t>• Web API：WEB_API_TOKEN 可选鉴权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安全与权限链路</a:t>
            </a:r>
          </a:p>
        </p:txBody>
      </p:sp>
      <p:pic>
        <p:nvPicPr>
          <p:cNvPr id="3" name="Picture 2" descr="security-chain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554480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核心机制 3：记忆与上下文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记忆系统</a:t>
            </a:r>
          </a:p>
          <a:p>
            <a:pPr lvl="1"/>
            <a:r>
              <a:rPr b="0"/>
              <a:t>• 短期：滑动窗口 + LLM 摘要压缩</a:t>
            </a:r>
          </a:p>
          <a:p>
            <a:pPr lvl="1"/>
            <a:r>
              <a:rPr b="0"/>
              <a:t>• 长期：ChromaDB 向量召回</a:t>
            </a:r>
          </a:p>
          <a:p>
            <a:pPr lvl="1"/>
            <a:r>
              <a:rPr b="0"/>
              <a:t>• Self-Query：先拆意图再过滤元数据</a:t>
            </a:r>
          </a:p>
          <a:p>
            <a:pPr lvl="1"/>
            <a:r>
              <a:rPr b="0"/>
              <a:t>• TokenBudget + HybridWindow 主动压缩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上下文增强</a:t>
            </a:r>
          </a:p>
          <a:p>
            <a:pPr lvl="1"/>
            <a:r>
              <a:rPr b="0"/>
              <a:t>• Schema Linking + 值级索引</a:t>
            </a:r>
          </a:p>
          <a:p>
            <a:pPr lvl="1"/>
            <a:r>
              <a:rPr b="0"/>
              <a:t>• few-shot 相似 SQL 样例注入</a:t>
            </a:r>
          </a:p>
          <a:p>
            <a:pPr lvl="1"/>
            <a:r>
              <a:rPr b="0"/>
              <a:t>• 高频指标模板优先，命中零 LLM</a:t>
            </a:r>
          </a:p>
          <a:p>
            <a:pPr lvl="1"/>
            <a:r>
              <a:rPr b="0"/>
              <a:t>• 自学习：成功 SQL 工具层捕获 → dry-run → 回流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记忆、上下文与观测闭环</a:t>
            </a:r>
          </a:p>
        </p:txBody>
      </p:sp>
      <p:pic>
        <p:nvPicPr>
          <p:cNvPr id="3" name="Picture 2" descr="memory-obs-loop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554480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核心机制 4：三层自愈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 lvl="1"/>
            <a:r>
              <a:rPr b="0"/>
              <a:t>• L1 API 重试：429 / 5xx / 连接错误，指数退避 + 抖动，未输出才重试</a:t>
            </a:r>
          </a:p>
          <a:p>
            <a:pPr lvl="1"/>
            <a:r>
              <a:rPr b="0"/>
              <a:t>• L2 执行自愈：SQL 重写 ≤2；Agent 超时重规划 ≤1；Reflection 重写 ≤2</a:t>
            </a:r>
          </a:p>
          <a:p>
            <a:pPr lvl="1"/>
            <a:r>
              <a:rPr b="0"/>
              <a:t>• L3 熔断：连续失败 ≥ 阈值 → open → 半开试探 → 恢复</a:t>
            </a:r>
          </a:p>
          <a:p>
            <a:pPr lvl="1"/>
            <a:r>
              <a:rPr b="0"/>
              <a:t>• 写工具幂等守卫：同参数 TTL 窗口内不重复执行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三层自愈</a:t>
            </a:r>
          </a:p>
        </p:txBody>
      </p:sp>
      <p:pic>
        <p:nvPicPr>
          <p:cNvPr id="3" name="Picture 2" descr="self-healing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554480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核心机制 5：可观测与运维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 lvl="1"/>
            <a:r>
              <a:rPr b="0"/>
              <a:t>• Trace JSONL：Span 级审计，SQL 脱敏</a:t>
            </a:r>
          </a:p>
          <a:p>
            <a:pPr lvl="1"/>
            <a:r>
              <a:rPr b="0"/>
              <a:t>• Opik：Trace / Feedback / Dataset / Experiment</a:t>
            </a:r>
          </a:p>
          <a:p>
            <a:pPr lvl="1"/>
            <a:r>
              <a:rPr b="0"/>
              <a:t>• Prometheus：/api/metrics（查询数 / 成功率 / token / 耗时）</a:t>
            </a:r>
          </a:p>
          <a:p>
            <a:pPr lvl="1"/>
            <a:r>
              <a:rPr b="0"/>
              <a:t>• 告警 Webhook：熔断 / Agent 超时</a:t>
            </a:r>
          </a:p>
          <a:p>
            <a:pPr lvl="1"/>
            <a:r>
              <a:rPr b="0"/>
              <a:t>• Task board：plan 落盘 .tasks/</a:t>
            </a:r>
          </a:p>
          <a:p>
            <a:pPr lvl="1"/>
            <a:r>
              <a:rPr b="0"/>
              <a:t>• 成本估算：按模型统计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完整链路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 lvl="1"/>
            <a:r>
              <a:rPr b="0"/>
              <a:t>• 入口 → 输入护栏 → Router → DQ（可选）→ SQL Agent</a:t>
            </a:r>
          </a:p>
          <a:p>
            <a:pPr lvl="1"/>
            <a:r>
              <a:rPr b="0"/>
              <a:t>• SQL → 置信度门 → Analysis → Reflection → 返回</a:t>
            </a:r>
          </a:p>
          <a:p>
            <a:pPr lvl="1"/>
            <a:r>
              <a:rPr b="0"/>
              <a:t>• HITL：敏感 SQL / HBase 写 / 澄清 / 低置信度可暂停恢复</a:t>
            </a:r>
          </a:p>
          <a:p>
            <a:pPr lvl="1"/>
            <a:r>
              <a:rPr b="0"/>
              <a:t>• single 模式：直接 ReAct loop，无 Router / DQ / Confidence / Reflection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完整链路</a:t>
            </a:r>
          </a:p>
        </p:txBody>
      </p:sp>
      <p:pic>
        <p:nvPicPr>
          <p:cNvPr id="3" name="Picture 2" descr="query-flo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554480"/>
            <a:ext cx="59740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工程质量与成果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测试与评测</a:t>
            </a:r>
          </a:p>
          <a:p>
            <a:pPr lvl="1"/>
            <a:r>
              <a:rPr b="0"/>
              <a:t>• 423 测试用例，离线 ~10s，零 API</a:t>
            </a:r>
          </a:p>
          <a:p>
            <a:pPr lvl="1"/>
            <a:r>
              <a:rPr b="0"/>
              <a:t>• 冒烟：模块导入 / Tool 配线 / Graph 编译</a:t>
            </a:r>
          </a:p>
          <a:p>
            <a:pPr lvl="1"/>
            <a:r>
              <a:rPr b="0"/>
              <a:t>• Eval 35+ 用例，LLM-as-Judge（Kimi 评 DeepSeek）</a:t>
            </a:r>
          </a:p>
          <a:p>
            <a:pPr lvl="1"/>
            <a:r>
              <a:rPr b="0"/>
              <a:t>• 13 条 DB 实查事实断言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产品化</a:t>
            </a:r>
          </a:p>
          <a:p>
            <a:pPr lvl="1"/>
            <a:r>
              <a:rPr b="0"/>
              <a:t>• CLI 安装即用 + 启动配置校验</a:t>
            </a:r>
          </a:p>
          <a:p>
            <a:pPr lvl="1"/>
            <a:r>
              <a:rPr b="0"/>
              <a:t>• Docker Compose + 锁文件</a:t>
            </a:r>
          </a:p>
          <a:p>
            <a:pPr lvl="1"/>
            <a:r>
              <a:rPr b="0"/>
              <a:t>• 代码拆分 nodes / graph / runner / helpers</a:t>
            </a:r>
          </a:p>
          <a:p>
            <a:pPr lvl="1"/>
            <a:r>
              <a:rPr b="0"/>
              <a:t>• 类型化 state / config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项目成果与亮点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 lvl="1"/>
            <a:r>
              <a:rPr b="0"/>
              <a:t>• S：业务取数依赖专人，多数据源 + 安全合规要求高</a:t>
            </a:r>
          </a:p>
          <a:p>
            <a:pPr lvl="1"/>
            <a:r>
              <a:rPr b="0"/>
              <a:t>• T：做一个自然语言数据库分析 Agent 的完整 Harness</a:t>
            </a:r>
          </a:p>
          <a:p>
            <a:pPr lvl="1"/>
            <a:r>
              <a:rPr b="0"/>
              <a:t>• A：6 Agent / RBAC+HITL / 三层自愈 / 记忆闭环 / 双观测 / 评测</a:t>
            </a:r>
          </a:p>
          <a:p>
            <a:pPr lvl="1"/>
            <a:r>
              <a:rPr b="0"/>
              <a:t>• R：3 入口覆盖 SQL / Hive / HBase；423 测试离线 10s；Eval 33/35</a:t>
            </a:r>
          </a:p>
          <a:p>
            <a:pPr lvl="1"/>
            <a:r>
              <a:rPr b="0"/>
              <a:t>• 一句话：从 Demo 做到可治理、可自愈、可评测的工程系统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面试讲解要点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怎么讲</a:t>
            </a:r>
          </a:p>
          <a:p>
            <a:pPr lvl="1"/>
            <a:r>
              <a:rPr b="0"/>
              <a:t>• 30 秒定位：Agent = 模型 + Harness</a:t>
            </a:r>
          </a:p>
          <a:p>
            <a:pPr lvl="1"/>
            <a:r>
              <a:rPr b="0"/>
              <a:t>• 2 分钟架构：入口 → 六维 → 多 Agent → 数据层</a:t>
            </a:r>
          </a:p>
          <a:p>
            <a:pPr lvl="1"/>
            <a:r>
              <a:rPr b="0"/>
              <a:t>• 深挖 1-2 个机制：优先安全或自愈</a:t>
            </a:r>
          </a:p>
          <a:p>
            <a:pPr lvl="1"/>
            <a:r>
              <a:rPr b="0"/>
              <a:t>• 收尾：评测与测试怎么保证不退化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可接改进点</a:t>
            </a:r>
          </a:p>
          <a:p>
            <a:pPr lvl="1"/>
            <a:r>
              <a:rPr b="0"/>
              <a:t>• SQL 解析 AST 化（sqlglot）</a:t>
            </a:r>
          </a:p>
          <a:p>
            <a:pPr lvl="1"/>
            <a:r>
              <a:rPr b="0"/>
              <a:t>• 行级权限落数据库原生 RLS</a:t>
            </a:r>
          </a:p>
          <a:p>
            <a:pPr lvl="1"/>
            <a:r>
              <a:rPr b="0"/>
              <a:t>• 真实 PostgreSQL / HBase / Hive 接入</a:t>
            </a:r>
          </a:p>
          <a:p>
            <a:pPr lvl="1"/>
            <a:r>
              <a:rPr b="0"/>
              <a:t>• Opik / Trace 打点收敛成统一 wrapper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其他项目一览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b="1"/>
              <a:t>fin-agent</a:t>
            </a:r>
          </a:p>
          <a:p>
            <a:pPr lvl="1"/>
            <a:r>
              <a:rPr b="0"/>
              <a:t>• AI 研报分析 Agent</a:t>
            </a:r>
          </a:p>
          <a:p>
            <a:pPr lvl="1"/>
            <a:r>
              <a:rPr b="0"/>
              <a:t>• FastAPI + LangGraph + RAG + MCP</a:t>
            </a:r>
          </a:p>
          <a:p>
            <a:pPr lvl="1"/>
            <a:r>
              <a:rPr b="0"/>
              <a:t>• 多源研报检索 / 结构化提取 / 对比分析</a:t>
            </a:r>
          </a:p>
          <a:p>
            <a:pPr lvl="1"/>
            <a:r>
              <a:rPr b="0"/>
              <a:t>• 待补充：数据源 / 编排 / 效果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b="1"/>
              <a:t>fraud-agent</a:t>
            </a:r>
          </a:p>
          <a:p>
            <a:pPr lvl="1"/>
            <a:r>
              <a:rPr b="0"/>
              <a:t>• 反欺诈分析 Agent</a:t>
            </a:r>
          </a:p>
          <a:p>
            <a:pPr lvl="1"/>
            <a:r>
              <a:rPr b="0"/>
              <a:t>• LangGraph + RAG + Streamlit + 10+ Tool</a:t>
            </a:r>
          </a:p>
          <a:p>
            <a:pPr lvl="1"/>
            <a:r>
              <a:rPr b="0"/>
              <a:t>• 双轨编排 + 知识库 + 规则引擎</a:t>
            </a:r>
          </a:p>
          <a:p>
            <a:pPr lvl="1"/>
            <a:r>
              <a:rPr b="0"/>
              <a:t>• 待补充：双轨定义 / Tool 清单 / 数据效果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Thanks for your attention!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b="0"/>
              <a:t>• db-agent · 企业级自然语言数据库分析 Agent</a:t>
            </a:r>
          </a:p>
          <a:p>
            <a:pPr lvl="1"/>
            <a:r>
              <a:rPr b="0"/>
              <a:t>• Q&amp;A</a:t>
            </a:r>
          </a:p>
          <a:p>
            <a:pPr lvl="1"/>
            <a:r>
              <a:rPr b="0"/>
              <a:t>• 联系 / 演示信息占位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i Standard PPT Presentation">
  <a:themeElements>
    <a:clrScheme name="Citi Enterprise">
      <a:dk1>
        <a:srgbClr val="53565A"/>
      </a:dk1>
      <a:lt1>
        <a:srgbClr val="FFFFFF"/>
      </a:lt1>
      <a:dk2>
        <a:srgbClr val="002D72"/>
      </a:dk2>
      <a:lt2>
        <a:srgbClr val="97999B"/>
      </a:lt2>
      <a:accent1>
        <a:srgbClr val="00BDF2"/>
      </a:accent1>
      <a:accent2>
        <a:srgbClr val="FFAA00"/>
      </a:accent2>
      <a:accent3>
        <a:srgbClr val="A05EB5"/>
      </a:accent3>
      <a:accent4>
        <a:srgbClr val="00B0B9"/>
      </a:accent4>
      <a:accent5>
        <a:srgbClr val="84BD00"/>
      </a:accent5>
      <a:accent6>
        <a:srgbClr val="C4D600"/>
      </a:accent6>
      <a:hlink>
        <a:srgbClr val="008CE6"/>
      </a:hlink>
      <a:folHlink>
        <a:srgbClr val="C6007E"/>
      </a:folHlink>
    </a:clrScheme>
    <a:fontScheme name="ICG Fonts">
      <a:majorFont>
        <a:latin typeface="Arial"/>
        <a:ea typeface="STKaiti"/>
        <a:cs typeface=""/>
        <a:font script="Jpan" typeface="MS PGothic"/>
      </a:majorFont>
      <a:minorFont>
        <a:latin typeface="Arial"/>
        <a:ea typeface="STKaiti"/>
        <a:cs typeface=""/>
        <a:font script="Jpan" typeface="MS 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8599A6104DC34A9C37FAE2DED8D6E9" ma:contentTypeVersion="0" ma:contentTypeDescription="Create a new document." ma:contentTypeScope="" ma:versionID="19877f96bfaf4df934f35472f40ea0d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XMLData TextToDisplay="RightsWATCHMark">7|CITI-No PII-Public|{00000000-0000-0000-0000-000000000000}</XMLData>
</file>

<file path=customXml/itemProps1.xml><?xml version="1.0" encoding="utf-8"?>
<ds:datastoreItem xmlns:ds="http://schemas.openxmlformats.org/officeDocument/2006/customXml" ds:itemID="{C591711F-C9D8-4108-AEAB-0B57F2E055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D25AE1C-C24E-4A3C-895B-7400F11ACE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102801-BF50-40A7-A828-8B3B0C5828C1}">
  <ds:schemaRefs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10A4EDCA-6E37-430C-992D-BD2EC9A37EA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Citi Standard PPT Presentation</Template>
  <TotalTime>16911</TotalTime>
  <Words>1217</Words>
  <Application>Microsoft Office PowerPoint</Application>
  <PresentationFormat>On-screen Show (4:3)</PresentationFormat>
  <Paragraphs>324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Cambria Math</vt:lpstr>
      <vt:lpstr>Geneva</vt:lpstr>
      <vt:lpstr>STKaiti</vt:lpstr>
      <vt:lpstr>Wingdings</vt:lpstr>
      <vt:lpstr>Wingdings 2</vt:lpstr>
      <vt:lpstr>ヒラギノ角ゴ Pro W3</vt:lpstr>
      <vt:lpstr>Citi Standard PPT Presentation</vt:lpstr>
      <vt:lpstr>Applied Mathematics at Citi MQA</vt:lpstr>
      <vt:lpstr>Agenda</vt:lpstr>
      <vt:lpstr>Who is a “Quant”? </vt:lpstr>
      <vt:lpstr>Markets Quantitative Analysis</vt:lpstr>
      <vt:lpstr>Markets Quantitative Analysis</vt:lpstr>
      <vt:lpstr>Markets Quantitative Analysis</vt:lpstr>
      <vt:lpstr>Markets Quantitative Analysis</vt:lpstr>
      <vt:lpstr>Knowledge of financial products </vt:lpstr>
      <vt:lpstr>Knowledge of financial products </vt:lpstr>
      <vt:lpstr>Knowledge of financial products </vt:lpstr>
      <vt:lpstr>Markets Quantitative Analysis</vt:lpstr>
      <vt:lpstr>Mathematical tools</vt:lpstr>
      <vt:lpstr>Common mathematical applications</vt:lpstr>
      <vt:lpstr>Advanced Mathematical Example</vt:lpstr>
      <vt:lpstr>Advanced Mathematical Example - cont.</vt:lpstr>
      <vt:lpstr>Advanced Mathematical Example - cont.</vt:lpstr>
      <vt:lpstr>Advanced Mathematical Example - cont</vt:lpstr>
      <vt:lpstr>Markets Quantitative Analysis</vt:lpstr>
      <vt:lpstr>Software development skills</vt:lpstr>
      <vt:lpstr>Markets Quantitative Analysis</vt:lpstr>
      <vt:lpstr>Soft skills</vt:lpstr>
      <vt:lpstr>Recommended readings</vt:lpstr>
      <vt:lpstr>MQA Budapest Career Possibilities </vt:lpstr>
      <vt:lpstr>MQA Summer Internship program </vt:lpstr>
      <vt:lpstr>PowerPoint Presentation</vt:lpstr>
    </vt:vector>
  </TitlesOfParts>
  <Company>Citigroup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Enterprise PowerPoint Template Subtitle goes here</dc:title>
  <dc:creator>Mitchell, David [ICG-MKTS]</dc:creator>
  <cp:lastModifiedBy>Szoke, Peter [ICG-MKTS]</cp:lastModifiedBy>
  <cp:revision>415</cp:revision>
  <cp:lastPrinted>2019-09-24T14:57:48Z</cp:lastPrinted>
  <dcterms:created xsi:type="dcterms:W3CDTF">2015-11-24T11:52:24Z</dcterms:created>
  <dcterms:modified xsi:type="dcterms:W3CDTF">2019-09-27T08:03:22Z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0x010100628599A6104DC34A9C37FAE2DED8D6E9</vt:lpwstr>
  </property>
  <property fmtid="{D5CDD505-2E9C-101B-9397-08002B2CF9AE}" pid="3" name="PageNumAlign">
    <vt:lpwstr>L</vt:lpwstr>
  </property>
  <property fmtid="{D5CDD505-2E9C-101B-9397-08002B2CF9AE}" pid="4" name="SectionTitleAlign">
    <vt:lpwstr>L</vt:lpwstr>
  </property>
  <property fmtid="{D5CDD505-2E9C-101B-9397-08002B2CF9AE}" pid="5" name="Is_Custom_Template">
    <vt:lpwstr>true</vt:lpwstr>
  </property>
  <property fmtid="{D5CDD505-2E9C-101B-9397-08002B2CF9AE}" pid="6" name="PNSOpt">
    <vt:lpwstr>5</vt:lpwstr>
  </property>
  <property fmtid="{D5CDD505-2E9C-101B-9397-08002B2CF9AE}" pid="7" name="PageNumberTop">
    <vt:lpwstr>0</vt:lpwstr>
  </property>
  <property fmtid="{D5CDD505-2E9C-101B-9397-08002B2CF9AE}" pid="8" name="PageNumberLeft">
    <vt:lpwstr>11</vt:lpwstr>
  </property>
  <property fmtid="{D5CDD505-2E9C-101B-9397-08002B2CF9AE}" pid="9" name="PageNumberCentre">
    <vt:lpwstr>360</vt:lpwstr>
  </property>
  <property fmtid="{D5CDD505-2E9C-101B-9397-08002B2CF9AE}" pid="10" name="PageNumSectionTitleDiff">
    <vt:lpwstr>20</vt:lpwstr>
  </property>
  <property fmtid="{D5CDD505-2E9C-101B-9397-08002B2CF9AE}" pid="11" name="SectionTitleTop">
    <vt:lpwstr>0</vt:lpwstr>
  </property>
  <property fmtid="{D5CDD505-2E9C-101B-9397-08002B2CF9AE}" pid="12" name="SectionTitleLeft">
    <vt:lpwstr>31</vt:lpwstr>
  </property>
  <property fmtid="{D5CDD505-2E9C-101B-9397-08002B2CF9AE}" pid="13" name="TOCHeaderTop">
    <vt:lpwstr>0</vt:lpwstr>
  </property>
  <property fmtid="{D5CDD505-2E9C-101B-9397-08002B2CF9AE}" pid="14" name="TOCHeaderLeft">
    <vt:lpwstr>0</vt:lpwstr>
  </property>
  <property fmtid="{D5CDD505-2E9C-101B-9397-08002B2CF9AE}" pid="15" name="CitiLogoTop">
    <vt:lpwstr>0</vt:lpwstr>
  </property>
  <property fmtid="{D5CDD505-2E9C-101B-9397-08002B2CF9AE}" pid="16" name="CitiLogoLeft">
    <vt:lpwstr>0</vt:lpwstr>
  </property>
  <property fmtid="{D5CDD505-2E9C-101B-9397-08002B2CF9AE}" pid="17" name="RightsWATCHMark">
    <vt:lpwstr>7|CITI-No PII-Public|{00000000-0000-0000-0000-000000000000}</vt:lpwstr>
  </property>
  <property fmtid="{D5CDD505-2E9C-101B-9397-08002B2CF9AE}" pid="18" name="Pitchbook Compatible">
    <vt:lpwstr>Yes</vt:lpwstr>
  </property>
</Properties>
</file>